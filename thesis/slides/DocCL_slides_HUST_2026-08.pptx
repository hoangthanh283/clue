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Master's thesis pitch. One-line thesis: catastrophic forgetting in multimodal document transformers concentrates at the output side; a pre-registered falsification program shows only task-consistent re-exercise repairs it, with CoLaR as the constructive control.</a:t>
            </a:r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Documents arrive over time; the model must keep learning without forgetting. We fine-tune LayoutLMv3 on each new task in sequence, and naive sequential fine-tuning overwrites old knowledge. A real deployment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Forgetting is real and near-total. FUNSD entity-F1 collapses from 89.1 to 3.3 after training the very next task. Essentially everything learned earlier is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continual-learning family treats the network uniformly. Nobody localizes where forgetting lives. The scientific opening: measure first, then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single falsifiable question: where does catastrophic forgetting actually localize? In the fusion layers — the intuitive guess — or somewhere else entirely? Answerable by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measure forgetting, we don't guess it. CKA measures forgetting; Fisher measures importance — we do not conflate them. This addresses the AAAI AC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Forgetting is a late-layer and head phenomenon, not fusion. CKA falls from 1.00 to 0.16 toward the head. Now confirmed on 4 backbones including the completed BERT grid; permutation test cannot separate the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root cause, established after the deck's first version: the head's output marginal on old tasks snaps to the just-trained task's marginal. Five pre-registered kill-tests show no cheap correction recovers it — the information is destroyed, not miscalibrated. Registered nulls, not absence of evidence. Registration was self-administered —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falsification ladder: at the same frozen boundary, only whole-document replay works. Every summary — even real centroids — collapses. The single-variable control isolates whole-document (feature, position, label) binding as the necessary ingredient.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CoLaR proves the negatives are not effort-limited: compression that respects whole-doc binding works (87.6 at 60 MB). But it is a control, not a claimed method — improvements obey a conservation law. Honest LexSlot accounting: the 87.3 row is the small-buffer hybrid; standalone is naive-level, reproduced on BERT.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FCS-CL evaluation suite: three core scenarios plus two stress tests, four metrics, three seeds. Framed honestly as an evaluation suite, not a brand-new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measured. Replay matches the oracle on DIL; C-Flat++ (2025) is the single strongest. DocCL closes most of the gap with a tiny head buffer. Prompt/LoRA methods fail on dense per-token IE. CIL is brutally hard for everything — even the oracle only reaches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ordering is not an artifact of one backbone: full BERT grid reproduces replay-dominance at its own oracle level with layout and vision removed entirely. LiLT partial, BROS pending on the rented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Targeting the diagnosed locus beats uniform treatment — WHERE matters more than HOW MUCH. DocCL reaches near-zero BWT while remaining accurate; EWC and prompts show low BWT only because they barely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Task-capacity gates on CoLaR, all pre-registered, all closed: R breaks the CORD guardrail and no abstention threshold exists; RF is exactly inert (dual evaluation); RA hurts precision. Wrong routes destructive, right routes inert — the conservation law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Near-done. Diagnosis, RCA, kill-tests, full LayoutLMv3 + BERT grids, thesis results chapters all done. Remaining: LiLT/BROS rented grid, method-chapter reframe, defense dry-run. On track for the December 2026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1" i="0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7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8"/>
          <p:cNvSpPr/>
          <p:nvPr>
            <p:ph idx="2" type="chart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8"/>
          <p:cNvSpPr/>
          <p:nvPr>
            <p:ph idx="3" type="tbl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11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1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3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3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749039" y="24688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12B36"/>
                </a:solidFill>
                <a:latin typeface="Arial"/>
              </a:rPr>
              <a:t>Diagnosis-Guided Continual Learning</a:t>
            </a:r>
          </a:p>
          <a:p>
            <a:r>
              <a:rPr sz="1600">
                <a:solidFill>
                  <a:srgbClr val="212B36"/>
                </a:solidFill>
                <a:latin typeface="Arial"/>
              </a:rPr>
              <a:t>for Document Understanding &amp; Information Extraction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9E1B32"/>
                </a:solidFill>
                <a:latin typeface="Arial"/>
              </a:rPr>
              <a:t>Thanh Hoang — Master Thesis Progress, Aug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86634" y="2219413"/>
            <a:ext cx="7342482" cy="84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b="1" i="0" lang="en-US" sz="5400" u="none" cap="none" strike="noStrike">
                <a:solidFill>
                  <a:srgbClr val="C00000"/>
                </a:solidFill>
                <a:latin typeface="Arial"/>
                <a:ea typeface="Lato"/>
                <a:cs typeface="Lato"/>
                <a:sym typeface="Lato"/>
              </a:rPr>
              <a:t>PRESENTATION TITLE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386634" y="3365399"/>
            <a:ext cx="7342482" cy="84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Lato"/>
                <a:cs typeface="Lato"/>
                <a:sym typeface="Lato"/>
              </a:rPr>
              <a:t>SUBTITLE. SUBTITLE. SUBTITLE.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Lato"/>
                <a:cs typeface="Lato"/>
                <a:sym typeface="Lato"/>
              </a:rPr>
              <a:t>SUBTITLE. SUBTITLE.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15" name="Google Shape;115;p20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16" name="Google Shape;116;p20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23" name="Google Shape;123;p21"/>
          <p:cNvSpPr/>
          <p:nvPr>
            <p:ph idx="2" type="chart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24" name="Google Shape;124;p21"/>
          <p:cNvSpPr/>
          <p:nvPr>
            <p:ph idx="3" type="tbl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46" name="Google Shape;146;p24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47" name="Google Shape;147;p24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61" name="Google Shape;161;p26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>
                <a:latin typeface="Arial"/>
              </a:rPr>
              <a:t/>
            </a:r>
            <a:endParaRPr/>
          </a:p>
        </p:txBody>
      </p:sp>
      <p:sp>
        <p:nvSpPr>
          <p:cNvPr id="162" name="Google Shape;162;p26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5605763" y="2869457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Arial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Documents keep arriving — the model must keep learning without forgetting.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Moving target</a:t>
            </a:r>
            <a:r>
              <a:rPr sz="1600">
                <a:solidFill>
                  <a:srgbClr val="212B36"/>
                </a:solidFill>
                <a:latin typeface="Arial"/>
              </a:rPr>
              <a:t> — new form types, fields and schemas keep showing up after deployment.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Retraining from scratch is unrealistic</a:t>
            </a:r>
            <a:r>
              <a:rPr sz="1600">
                <a:solidFill>
                  <a:srgbClr val="212B36"/>
                </a:solidFill>
                <a:latin typeface="Arial"/>
              </a:rPr>
              <a:t> — data is siloed, expensive, sometimes inaccessible.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Continual fine-tuning, task by task</a:t>
            </a:r>
            <a:r>
              <a:rPr sz="1600">
                <a:solidFill>
                  <a:srgbClr val="212B36"/>
                </a:solidFill>
                <a:latin typeface="Arial"/>
              </a:rPr>
              <a:t> — FUNSD (forms) → CORD (receipts) → SROIE (invoices); each step risks erasing the last.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HOOK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97280"/>
            <a:ext cx="5669280" cy="4846320"/>
          </a:xfrm>
        </p:spPr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Forgetting is severe and nearly absolute.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89.1 → 3.3</a:t>
            </a:r>
            <a:r>
              <a:rPr sz="1600">
                <a:solidFill>
                  <a:srgbClr val="212B36"/>
                </a:solidFill>
                <a:latin typeface="Arial"/>
              </a:rPr>
              <a:t> — FUNSD entity-F1 immediately after training the next task (naive sequential fine-tuning, LayoutLMv3, DIL).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Essentially everything learned earlier is lost</a:t>
            </a:r>
            <a:r>
              <a:rPr sz="1600">
                <a:solidFill>
                  <a:srgbClr val="212B36"/>
                </a:solidFill>
                <a:latin typeface="Arial"/>
              </a:rPr>
              <a:t> — the off-diagonal of the retention matrix collapses at the first boundary.</a:t>
            </a:r>
          </a:p>
        </p:txBody>
      </p:sp>
      <p:pic>
        <p:nvPicPr>
          <p:cNvPr id="4" name="Picture 3" descr="s3_1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486400" cy="4534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Every CL family treats the network uniformly. No one localizes where forgetting lives.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Regularization</a:t>
            </a:r>
            <a:r>
              <a:rPr sz="1400">
                <a:solidFill>
                  <a:srgbClr val="212B36"/>
                </a:solidFill>
                <a:latin typeface="Arial"/>
              </a:rPr>
              <a:t> — EWC, SI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Distillation</a:t>
            </a:r>
            <a:r>
              <a:rPr sz="1400">
                <a:solidFill>
                  <a:srgbClr val="212B36"/>
                </a:solidFill>
                <a:latin typeface="Arial"/>
              </a:rPr>
              <a:t> — LwF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Replay</a:t>
            </a:r>
            <a:r>
              <a:rPr sz="1400">
                <a:solidFill>
                  <a:srgbClr val="212B36"/>
                </a:solidFill>
                <a:latin typeface="Arial"/>
              </a:rPr>
              <a:t> — ER, DER++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Prompt-based</a:t>
            </a:r>
            <a:r>
              <a:rPr sz="1400">
                <a:solidFill>
                  <a:srgbClr val="212B36"/>
                </a:solidFill>
                <a:latin typeface="Arial"/>
              </a:rPr>
              <a:t> — L2P → DualPrompt → CODA-Prompt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LoRA / PEFT</a:t>
            </a:r>
            <a:r>
              <a:rPr sz="1400">
                <a:solidFill>
                  <a:srgbClr val="212B36"/>
                </a:solidFill>
                <a:latin typeface="Arial"/>
              </a:rPr>
              <a:t> — O-LoRA, CL-LoRA, SD-LoRA (2025)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Their shared blind spot</a:t>
            </a:r>
            <a:r>
              <a:rPr sz="1400">
                <a:solidFill>
                  <a:srgbClr val="212B36"/>
                </a:solidFill>
                <a:latin typeface="Arial"/>
              </a:rPr>
              <a:t> — all regularize, replay, or adapt the network as one undifferentiated block. None asks WHICH components forget in a multimodal document encoder.  →  Measure first, then target.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RESEARCH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Inside a multimodal document transformer, WHERE does catastrophic forgetting actually localize?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The intuitive guess</a:t>
            </a:r>
            <a:r>
              <a:rPr sz="1600">
                <a:solidFill>
                  <a:srgbClr val="212B36"/>
                </a:solidFill>
                <a:latin typeface="Arial"/>
              </a:rPr>
              <a:t> — the fusion layers — by analogy with VLM continual learning.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212B36"/>
                </a:solidFill>
                <a:latin typeface="Arial"/>
              </a:rPr>
              <a:t>Or somewhere else entirely?</a:t>
            </a:r>
            <a:r>
              <a:rPr sz="1600">
                <a:solidFill>
                  <a:srgbClr val="212B36"/>
                </a:solidFill>
                <a:latin typeface="Arial"/>
              </a:rPr>
              <a:t> — a single, falsifiable question — answerable by measurement.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INSTRUMENT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How to measure forgetting.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Modality masking</a:t>
            </a:r>
            <a:r>
              <a:rPr sz="1400">
                <a:solidFill>
                  <a:srgbClr val="212B36"/>
                </a:solidFill>
                <a:latin typeface="Arial"/>
              </a:rPr>
              <a:t> — zero out the text / layout / image streams to isolate each modality’s role.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Linear CKA</a:t>
            </a:r>
            <a:r>
              <a:rPr sz="1400">
                <a:solidFill>
                  <a:srgbClr val="212B36"/>
                </a:solidFill>
                <a:latin typeface="Arial"/>
              </a:rPr>
              <a:t> — per-layer representational drift between checkpoints; 1.0 = no drift. The forgetting signal.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Per-group Fisher displacement</a:t>
            </a:r>
            <a:r>
              <a:rPr sz="1400">
                <a:solidFill>
                  <a:srgbClr val="212B36"/>
                </a:solidFill>
                <a:latin typeface="Arial"/>
              </a:rPr>
              <a:t> — parameter importance to the old task × movement — a complementary lens.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Construct-validity discipline</a:t>
            </a:r>
            <a:r>
              <a:rPr sz="1400">
                <a:solidFill>
                  <a:srgbClr val="212B36"/>
                </a:solidFill>
                <a:latin typeface="Arial"/>
              </a:rPr>
              <a:t> — CKA measures forgetting, Fisher measures importance; the central finding rests on CKA drift, Fisher corroborates.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FINDING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97280"/>
            <a:ext cx="5669280" cy="4846320"/>
          </a:xfrm>
        </p:spPr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Forgetting is a late-layer + head phenomenon. Not fusion.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1.00 → 0.16</a:t>
            </a:r>
            <a:r>
              <a:rPr sz="1300">
                <a:solidFill>
                  <a:srgbClr val="212B36"/>
                </a:solidFill>
                <a:latin typeface="Arial"/>
              </a:rPr>
              <a:t> — linear CKA from input encoders to classifier head: encoders barely move, the head moves most.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Architecture-general</a:t>
            </a:r>
            <a:r>
              <a:rPr sz="1300">
                <a:solidFill>
                  <a:srgbClr val="212B36"/>
                </a:solidFill>
                <a:latin typeface="Arial"/>
              </a:rPr>
              <a:t> — the head-dominant displacement and depth gradient reproduce on all 4 backbones (LayoutLMv3, BERT, LiLT, BROS); permutation test cannot separate their profiles (p = 0.38, 0.51).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Known vs. new</a:t>
            </a:r>
            <a:r>
              <a:rPr sz="1300">
                <a:solidFill>
                  <a:srgbClr val="212B36"/>
                </a:solidFill>
                <a:latin typeface="Arial"/>
              </a:rPr>
              <a:t> — late-layer drift was shown on unimodal nets (Ramasesh et al., ICLR’21); the multimodal VDU setting, the modality-masking instrument, and the locus MIGRATION under protection are new.</a:t>
            </a:r>
          </a:p>
        </p:txBody>
      </p:sp>
      <p:pic>
        <p:nvPicPr>
          <p:cNvPr id="4" name="Picture 3" descr="s7_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366662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ROOT CAUSE (NEW)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The readout-marginal snap: the head’s output marginal snaps to the just-trained task.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cos 0.997–0.998</a:t>
            </a:r>
            <a:r>
              <a:rPr sz="1300">
                <a:solidFill>
                  <a:srgbClr val="212B36"/>
                </a:solidFill>
                <a:latin typeface="Arial"/>
              </a:rPr>
              <a:t> — failing methods’ output marginal on OLD tasks vs. the just-trained task’s gold marginal (replay methods stay at 0.99–1.00 to their OWN marginal).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Class-asymmetric extinction</a:t>
            </a:r>
            <a:r>
              <a:rPr sz="1300">
                <a:solidFill>
                  <a:srgbClr val="212B36"/>
                </a:solidFill>
                <a:latin typeface="Arial"/>
              </a:rPr>
              <a:t> — never-re-exercised classes (KEY, HEADER) hit exactly 0.0 F1 under every modality mask; even background O collapses (0.00% row accuracy, invisible to entity-F1).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5 pre-registered kill-tests — all null</a:t>
            </a:r>
            <a:r>
              <a:rPr sz="1300">
                <a:solidFill>
                  <a:srgbClr val="212B36"/>
                </a:solidFill>
                <a:latin typeface="Arial"/>
              </a:rPr>
              <a:t> — eval-time marginal repair recovers −0.1 AA (old-class mass already ~10⁻⁶: information destroyed); marginal-KL and balanced-softmax training objectives leave extinct classes at 0.0.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The verdict</a:t>
            </a:r>
            <a:r>
              <a:rPr sz="1300">
                <a:solidFill>
                  <a:srgbClr val="212B36"/>
                </a:solidFill>
                <a:latin typeface="Arial"/>
              </a:rPr>
              <a:t> — the snap is a symptom, not an invertible transformation — only task-consistent re-exercise (replay) prevents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FALSIFICATION CHAIN (NEW)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97280"/>
            <a:ext cx="5486400" cy="4846320"/>
          </a:xfrm>
        </p:spPr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Buffer-free replay compression fails for ONE identified reason: broken whole-document consistency.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Same frozen boundary (layer k=8), same task stream</a:t>
            </a:r>
            <a:r>
              <a:rPr sz="1300">
                <a:solidFill>
                  <a:srgbClr val="212B36"/>
                </a:solidFill>
                <a:latin typeface="Arial"/>
              </a:rPr>
              <a:t> — only the replay representation differs.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Whole-document (feature, position, label) binding is the necessary ingredient</a:t>
            </a:r>
            <a:r>
              <a:rPr sz="1300">
                <a:solidFill>
                  <a:srgbClr val="212B36"/>
                </a:solidFill>
                <a:latin typeface="Arial"/>
              </a:rPr>
              <a:t> — summaries that break it fail regardless of pointwise fidelity — even REAL centroids.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Single-variable control</a:t>
            </a:r>
            <a:r>
              <a:rPr sz="1300">
                <a:solidFill>
                  <a:srgbClr val="212B36"/>
                </a:solidFill>
                <a:latin typeface="Arial"/>
              </a:rPr>
              <a:t> — 4 whole docs → AA 63.8 vs. the same features on decoupled carriers → 36.7.</a:t>
            </a:r>
          </a:p>
        </p:txBody>
      </p:sp>
      <p:pic>
        <p:nvPicPr>
          <p:cNvPr id="4" name="Picture 3" descr="chart_fal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54480"/>
            <a:ext cx="6035040" cy="29313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CONSTRUCTIVE CONTROL (NEW)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97280"/>
            <a:ext cx="5669280" cy="4846320"/>
          </a:xfrm>
        </p:spPr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CoLaR: compression that RESPECTS whole-doc consistency works — the negatives are not effort-limited.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87.6 AA @ 60 MB</a:t>
            </a:r>
            <a:r>
              <a:rPr sz="1200">
                <a:solidFill>
                  <a:srgbClr val="212B36"/>
                </a:solidFill>
                <a:latin typeface="Arial"/>
              </a:rPr>
              <a:t> — per-document rank-r SVD factors: 2.7× smaller than raw replay, within 1.4 pts of the joint oracle.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A conservation law</a:t>
            </a:r>
            <a:r>
              <a:rPr sz="1200">
                <a:solidFill>
                  <a:srgbClr val="212B36"/>
                </a:solidFill>
                <a:latin typeface="Arial"/>
              </a:rPr>
              <a:t> — every improvement lever trades FUNSD surplus for SROIE ~1:1 without moving AA (3-seed confirmed); read-side extensions are clean negatives.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Honest LexSlot accounting</a:t>
            </a:r>
            <a:r>
              <a:rPr sz="1200">
                <a:solidFill>
                  <a:srgbClr val="212B36"/>
                </a:solidFill>
                <a:latin typeface="Arial"/>
              </a:rPr>
              <a:t> — the 87.3 row is the small-buffer hybrid (200 exemplars); standalone ≈ naive (42.2) — reproduced on BERT.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Reframed contribution</a:t>
            </a:r>
            <a:r>
              <a:rPr sz="1200">
                <a:solidFill>
                  <a:srgbClr val="212B36"/>
                </a:solidFill>
                <a:latin typeface="Arial"/>
              </a:rPr>
              <a:t> — diagnosis + pre-registered falsification; CoLaR is the control, not a claimed SOTA method.</a:t>
            </a:r>
          </a:p>
        </p:txBody>
      </p:sp>
      <p:pic>
        <p:nvPicPr>
          <p:cNvPr id="4" name="Picture 3" descr="chart_colar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623560" cy="28969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EVALUATION SUITE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Five scenarios × four metrics × three seeds × four backbones — every headline claim multi-seed.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CIL</a:t>
            </a:r>
            <a:r>
              <a:rPr sz="1400">
                <a:solidFill>
                  <a:srgbClr val="212B36"/>
                </a:solidFill>
                <a:latin typeface="Arial"/>
              </a:rPr>
              <a:t> — CORD — 60 fine-grained classes arrive in growing-head sessions.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DIL</a:t>
            </a:r>
            <a:r>
              <a:rPr sz="1400">
                <a:solidFill>
                  <a:srgbClr val="212B36"/>
                </a:solidFill>
                <a:latin typeface="Arial"/>
              </a:rPr>
              <a:t> — FUNSD → SROIE → CORD under one unified 4-class schema; domain shifts, labels fixed.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Mixed</a:t>
            </a:r>
            <a:r>
              <a:rPr sz="1400">
                <a:solidFill>
                  <a:srgbClr val="212B36"/>
                </a:solidFill>
                <a:latin typeface="Arial"/>
              </a:rPr>
              <a:t> — interleaves class growth and domain shift — the hardest, most realistic case.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Stress tests</a:t>
            </a:r>
            <a:r>
              <a:rPr sz="1400">
                <a:solidFill>
                  <a:srgbClr val="212B36"/>
                </a:solidFill>
                <a:latin typeface="Arial"/>
              </a:rPr>
              <a:t> — WildReceipt (scale) and XFUND (language shift).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Metrics</a:t>
            </a:r>
            <a:r>
              <a:rPr sz="1400">
                <a:solidFill>
                  <a:srgbClr val="212B36"/>
                </a:solidFill>
                <a:latin typeface="Arial"/>
              </a:rPr>
              <a:t> — AA (mean entity-F1 over seen tasks), BWT/AF (forgetting), FWT — all over 3 seeds (42/7/123).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Backbones</a:t>
            </a:r>
            <a:r>
              <a:rPr sz="1400">
                <a:solidFill>
                  <a:srgbClr val="212B36"/>
                </a:solidFill>
                <a:latin typeface="Arial"/>
              </a:rPr>
              <a:t> — LayoutLMv3 (primary, full grid) · BERT text-only (full grid — DONE) · LiLT (partial) · BROS (pending).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MAIN RESULTS · ALL MEASURED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Replay dominates; 2025 flat-minima replay is the strongest; DocCL closes most of the DIL gap.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65960"/>
          <a:ext cx="9966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331469"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CIL-CORD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DIL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MIXED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Naïve (lower bound)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19.0±0.2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41.3±1.5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33.9±0.3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EWC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0.5±0.6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41.2±1.1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22.0±9.4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LwF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18.8±0.2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43.7±1.1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35.2±1.2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ER (replay)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16.0±1.4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87.9±1.4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60.3±5.3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DER++ (replay)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18.2±0.3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88.0±0.9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60.8±2.7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ER + C-Flat++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15.9±1.5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88.4±0.2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62.2±0.7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L2P / DualPrompt / CODA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0–2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~30–33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~8–12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O-LoRA / CL-LoRA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4.7 / 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40.8 / 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13.4 / 31.4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DocCL (diagnosis-guided)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16.1±0.9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84.7±1.7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1">
                          <a:latin typeface="Arial"/>
                        </a:rPr>
                        <a:t>57.6±2.4</a:t>
                      </a:r>
                    </a:p>
                  </a:txBody>
                  <a:tcPr/>
                </a:tc>
              </a:tr>
              <a:tr h="331469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BERT text-only comparator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19.3±0.1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39.4±0.3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23.4±0.3</a:t>
                      </a:r>
                    </a:p>
                  </a:txBody>
                  <a:tcPr/>
                </a:tc>
              </a:tr>
              <a:tr h="331480"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Joint (oracle)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33.3±0.3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88.7±1.1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50" b="0">
                          <a:latin typeface="Arial"/>
                        </a:rPr>
                        <a:t>67.5±0.8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GENERALISATION (NEW)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97280"/>
            <a:ext cx="5212080" cy="4846320"/>
          </a:xfrm>
        </p:spPr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The ordering survives on every backbone — even with layout and vision removed entirely.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BERT text-only, FULL grid done</a:t>
            </a:r>
            <a:r>
              <a:rPr sz="1200">
                <a:solidFill>
                  <a:srgbClr val="212B36"/>
                </a:solidFill>
                <a:latin typeface="Arial"/>
              </a:rPr>
              <a:t> — replay reaches its own joint oracle (78.3 vs. 77.2 DIL); regularization barely moves the naive floor; prompt/LoRA at or below naive.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LiLT (partial)</a:t>
            </a:r>
            <a:r>
              <a:rPr sz="1200">
                <a:solidFill>
                  <a:srgbClr val="212B36"/>
                </a:solidFill>
                <a:latin typeface="Arial"/>
              </a:rPr>
              <a:t> — same three tiers — ER 85.7 ≫ EWC 48.4 &gt; naive 40.1. BROS: pending rented grid.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212B36"/>
                </a:solidFill>
                <a:latin typeface="Arial"/>
              </a:rPr>
              <a:t>Takeaway</a:t>
            </a:r>
            <a:r>
              <a:rPr sz="1200">
                <a:solidFill>
                  <a:srgbClr val="212B36"/>
                </a:solidFill>
                <a:latin typeface="Arial"/>
              </a:rPr>
              <a:t> — replay-dominance is a property of the PROBLEM, not of one backbone or of multimodality.</a:t>
            </a:r>
          </a:p>
        </p:txBody>
      </p:sp>
      <p:pic>
        <p:nvPicPr>
          <p:cNvPr id="4" name="Picture 3" descr="chart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6126480" cy="28930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THE ABLATION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97280"/>
            <a:ext cx="5120640" cy="4846320"/>
          </a:xfrm>
        </p:spPr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Targeting the diagnosed head/late locus beats treating the network uniformly.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WHERE &gt; HOW MUCH</a:t>
            </a:r>
            <a:r>
              <a:rPr sz="1400">
                <a:solidFill>
                  <a:srgbClr val="212B36"/>
                </a:solidFill>
                <a:latin typeface="Arial"/>
              </a:rPr>
              <a:t> — a uniform penalty at every depth costs more and still collapses to ≈ half the targeted AA.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On forgetting</a:t>
            </a:r>
            <a:r>
              <a:rPr sz="1400">
                <a:solidFill>
                  <a:srgbClr val="212B36"/>
                </a:solidFill>
                <a:latin typeface="Arial"/>
              </a:rPr>
              <a:t> — DocCL reaches near-zero BWT on DIL, matching replay.</a:t>
            </a:r>
          </a:p>
        </p:txBody>
      </p:sp>
      <p:pic>
        <p:nvPicPr>
          <p:cNvPr id="4" name="Picture 3" descr="s13_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852160" cy="30472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CAPACITY GATES ON CoLaR (NEW)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Can task-specific head capacity break the conservation law? Every pre-registered gate says no.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CoLaSlot-R: NO-GO</a:t>
            </a:r>
            <a:r>
              <a:rPr sz="1300">
                <a:solidFill>
                  <a:srgbClr val="212B36"/>
                </a:solidFill>
                <a:latin typeface="Arial"/>
              </a:rPr>
              <a:t> — +14.0 AA over matched CoLaR but the final domain regresses (CORD −0.84 &lt; the −0.5 guardrail); an exhaustive test-blind margin calibration found NO usable abstention threshold — design closed.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CoLaSlot-RF: inert</a:t>
            </a:r>
            <a:r>
              <a:rPr sz="1300">
                <a:solidFill>
                  <a:srgbClr val="212B36"/>
                </a:solidFill>
                <a:latin typeface="Arial"/>
              </a:rPr>
              <a:t> — post-task hard-label residual refit — the dual slots-on/off evaluation shows EXACTLY equal results (AA 72.4 both ways; refit losses ~10⁻⁵, no drift signal in hard labels).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CoLaSlot-RA: harmful</a:t>
            </a:r>
            <a:r>
              <a:rPr sz="1300">
                <a:solidFill>
                  <a:srgbClr val="212B36"/>
                </a:solidFill>
                <a:latin typeface="Arial"/>
              </a:rPr>
              <a:t> — acquisition-logit anchors restore a training signal but cost −0.43 AA (SROIE precision −1.2): residual overgeneralization from 5 replay docs.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212B36"/>
                </a:solidFill>
                <a:latin typeface="Arial"/>
              </a:rPr>
              <a:t>The pattern</a:t>
            </a:r>
            <a:r>
              <a:rPr sz="1300">
                <a:solidFill>
                  <a:srgbClr val="212B36"/>
                </a:solidFill>
                <a:latin typeface="Arial"/>
              </a:rPr>
              <a:t> — wrong routes are destructive, right routes are inert — consistent with the conservation law; head residuals on compressed replay are closed in their current form.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300" b="1">
                <a:solidFill>
                  <a:srgbClr val="9E1B32"/>
                </a:solidFill>
                <a:latin typeface="Arial"/>
              </a:rPr>
              <a:t>WHERE I AM · WHAT’S LEFT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400" b="1">
                <a:solidFill>
                  <a:srgbClr val="212B36"/>
                </a:solidFill>
                <a:latin typeface="Arial"/>
              </a:rPr>
              <a:t>Status &amp; next actions.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Done — diagnosis</a:t>
            </a:r>
            <a:r>
              <a:rPr sz="1400">
                <a:solidFill>
                  <a:srgbClr val="212B36"/>
                </a:solidFill>
                <a:latin typeface="Arial"/>
              </a:rPr>
              <a:t> — CKA gradient + Fisher displacement on 4 backbones; root-cause RCA + 5 kill-test registered nulls.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Done — benchmark</a:t>
            </a:r>
            <a:r>
              <a:rPr sz="1400">
                <a:solidFill>
                  <a:srgbClr val="212B36"/>
                </a:solidFill>
                <a:latin typeface="Arial"/>
              </a:rPr>
              <a:t> — all baselines × 5 scenarios × 3 seeds on LayoutLMv3; full BERT slice (126+ runs, 9 days local GPU).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Done — thesis</a:t>
            </a:r>
            <a:r>
              <a:rPr sz="1400">
                <a:solidFill>
                  <a:srgbClr val="212B36"/>
                </a:solidFill>
                <a:latin typeface="Arial"/>
              </a:rPr>
              <a:t> — results chapters updated (ch6 falsification section, backbone tables, 128 pp builds clean).</a:t>
            </a:r>
          </a:p>
          <a:p>
            <a:pPr>
              <a:spcBef>
                <a:spcPts val="600"/>
              </a:spcBef>
            </a:pPr>
            <a:r>
              <a:rPr b="1" sz="1400">
                <a:solidFill>
                  <a:srgbClr val="212B36"/>
                </a:solidFill>
                <a:latin typeface="Arial"/>
              </a:rPr>
              <a:t>Next</a:t>
            </a:r>
            <a:r>
              <a:rPr sz="1400">
                <a:solidFill>
                  <a:srgbClr val="212B36"/>
                </a:solidFill>
                <a:latin typeface="Arial"/>
              </a:rPr>
              <a:t> — LiLT + BROS grids on a rented 24 GB GPU (~3 days, paste-ready) · method-chapter structural reframe · defense dry-run.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