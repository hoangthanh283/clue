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21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Master's thesis pitch. The one-line thesis: catastrophic forgetting in multimodal document transformers concentrates at the output side, and a diagnosis-targeted remedy closes most of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Documents arrive over time; the model must keep learning without forgetting. We fine-tune LayoutLMv3 on each new task in sequence, and naive sequential fine-tuning overwrites old knowledge. A real deployment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Forgetting is real and near-total. FUNSD entity-F1 collapses from 88.0 to 1.8 after training the very next task. Backward transfer on CIL-CORD is roughly minus 90 — essentially everything is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continual-learning family treats the network uniformly. Nobody localizes where forgetting lives. They all regularize, replay, or adapt the network as one undifferentiated block. The scientific opening: measure first, then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falsifiable question: inside a multimodal document transformer, where does catastrophic forgetting actually localize? In the fusion layers — the intuitive guess — or somewhere else entirely? Answerable by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measure forgetting, we don't guess it. Three tools: modality masking to isolate each modality, linear CKA for per-layer representational drift (our evidence of forgetting), and per-group Fisher for parameter importance. CKA measures forgetting; Fisher measures importance — we do not conflate them. This addresses the AAAI AC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Forgetting is a late-layer and head phenomenon, not fusion. CKA falls from 1.00 at the input encoders to 0.215 at the classifier head. Input encoders barely move; drift rises monotonically with depth; the same shape holds across both task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Knowing the line between what's known and what's new. Already known and re-confirmed: late-layer drift on unimodal nets, Ramasesh 2021. Genuinely new: the multimodal VDU setting, a modality-masking instrument that only exists when modalities exist, and using the diagnosis to drive method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DocCL spends its stability budget exactly where forgetting lives. Forgetting localizes at head and late layers, so target that — don't regularize uniformly. The method is a consequence of the diagnosis: depth-scaled EWC, output distillation, and head re-exposure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FCS-CL: three CL scenarios, four metrics, three seeds. Class-incremental on CORD, domain-incremental FUNSD-SROIE-CORD, and a mixed sequence. Framed honestly as an evaluation suite, not a brand-new benchmark. We also added cross-lingual DIL (XFUND) and class-IL at scale (WildReceipt) for currency.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measured. DocCL closes most of the DIL gap: 84.7 vs oracle 88.7, about 4 points. But replay (ER 87.9, DER++ 88.0) matches the oracle and leads DocCL by about 3 points. Prompt methods nearly fail on dense per-token IE. DocCL's edge over replay is qualitative: a tiny head buffer, no full rehearsal.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forgetting, DocCL reaches near-zero BWT on DIL — matching replay. Forgetting is not the same as accuracy: EWC and prompt methods also show low BWT, but only because they barely learn. Only replay and DocCL drive forgetting to near zero while remaining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Near-done, with a disciplined plan to the finish line. Measured: diagnosis, core baselines across three scenarios and three seeds, prompt baselines, DocCL, and a fixed BERT text-only baseline. Running next: component-targeting ablation, O-LoRA/CL-LoRA grid, new scenarios, secondary backbones. On track for the December 2026 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sought a top-venue review and acted on every fatal point. The text-only baseline was a null-input bug, now a real BERT baseline. Fisher is not forgetting, so the finding rests on CKA drift. The multimodal fusion decomposition was over-claimed, now reframed as a depth-wise + head characterization. The underpowered significance test was dropped as a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abl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55733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1428750"/>
            <a:ext cx="80062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MASTER'S THESIS · AAAI-TRACK RESEARCH PITCH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2095500"/>
            <a:ext cx="104775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50" b="1" spc="-225" kern="0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DocCL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990600" y="3705225"/>
            <a:ext cx="8633460" cy="93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6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Diagnosis-Guided Continual Learning for Document Understanding &amp; Information Extraction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990600" y="5208240"/>
            <a:ext cx="1047750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Thanh Hoang · Hanoi University of Science and Technology, SoICT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391900" y="2857500"/>
            <a:ext cx="9525" cy="2228850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8" name="Text 6"/>
          <p:cNvSpPr/>
          <p:nvPr/>
        </p:nvSpPr>
        <p:spPr>
          <a:xfrm>
            <a:off x="12011025" y="2857500"/>
            <a:ext cx="58150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11025" y="3429000"/>
            <a:ext cx="5444966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diagnosis-first study of catastrophic forgetting in multimodal document transformers — measuring where it lives, then targeting a remedy there.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9555956"/>
            <a:ext cx="41797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Diagnosis-Guided Continual Learning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68948" y="9544050"/>
            <a:ext cx="9046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01 / 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7633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1047750"/>
            <a:ext cx="22225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543050"/>
            <a:ext cx="10595610" cy="116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90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Documents keep arriving — the model has to keep learning without forgetting.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90600" y="3924300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733800"/>
            <a:ext cx="920248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New form types, fields and schemas keep showing up after deployment. Real document IE is a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moving target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600" y="5133975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4943475"/>
            <a:ext cx="920248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Retraining from scratch each time isn't realistic — data is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siloed, expensive, sometimes inaccessible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90600" y="6343650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0" name="Text 8"/>
          <p:cNvSpPr/>
          <p:nvPr/>
        </p:nvSpPr>
        <p:spPr>
          <a:xfrm>
            <a:off x="1390650" y="6153150"/>
            <a:ext cx="920248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 we fine-tune a strong backbone (LayoutLMv3) task by task — and naïve sequential fine-tuning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overwrites what came before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90600" y="7439025"/>
            <a:ext cx="10267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practical deployment problem, not a benchmark artifact.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1963400" y="3733800"/>
            <a:ext cx="9525" cy="3548063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3" name="Text 11"/>
          <p:cNvSpPr/>
          <p:nvPr/>
        </p:nvSpPr>
        <p:spPr>
          <a:xfrm>
            <a:off x="12544425" y="3733800"/>
            <a:ext cx="489556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Continual fine-tuning, one task at a time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544425" y="5300663"/>
            <a:ext cx="4752975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5" name="Text 13"/>
          <p:cNvSpPr/>
          <p:nvPr/>
        </p:nvSpPr>
        <p:spPr>
          <a:xfrm>
            <a:off x="12544425" y="4824413"/>
            <a:ext cx="9906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Task 1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649325" y="4800600"/>
            <a:ext cx="23575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FUNSD </a:t>
            </a:r>
            <a:pPr algn="l" indent="0" marL="0">
              <a:buNone/>
            </a:pPr>
            <a:r>
              <a:rPr lang="en-US" sz="225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 forms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2544425" y="5981700"/>
            <a:ext cx="4752975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8" name="Text 16"/>
          <p:cNvSpPr/>
          <p:nvPr/>
        </p:nvSpPr>
        <p:spPr>
          <a:xfrm>
            <a:off x="12544425" y="5505450"/>
            <a:ext cx="9906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Task 2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3649325" y="5481638"/>
            <a:ext cx="251517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CORD </a:t>
            </a:r>
            <a:pPr algn="l" indent="0" marL="0">
              <a:buNone/>
            </a:pPr>
            <a:r>
              <a:rPr lang="en-US" sz="225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 receipts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544425" y="6186488"/>
            <a:ext cx="9906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Task 3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649325" y="6162675"/>
            <a:ext cx="26027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SROIE </a:t>
            </a:r>
            <a:pPr algn="l" indent="0" marL="0">
              <a:buNone/>
            </a:pPr>
            <a:r>
              <a:rPr lang="en-US" sz="225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 invoices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544425" y="6948488"/>
            <a:ext cx="52282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C0392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step risks erasing the last.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600" y="9401175"/>
            <a:ext cx="163068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7935" y="9563100"/>
            <a:ext cx="9156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02 / 15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1918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990600"/>
            <a:ext cx="16546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HOOK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466850"/>
            <a:ext cx="1451991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Forgetting is real and near-total: 89 → 3.3 F1 after one more task.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990600" y="2667000"/>
            <a:ext cx="15716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Naïve sequential fine-tuning, LayoutLMv3 — measured.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90600" y="3009900"/>
            <a:ext cx="8343900" cy="6153150"/>
          </a:xfrm>
          <a:prstGeom prst="roundRect">
            <a:avLst>
              <a:gd name="adj" fmla="val 929"/>
            </a:avLst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6892" r="-6892" t="0" b="0"/>
          <a:stretch/>
        </p:blipFill>
        <p:spPr>
          <a:xfrm>
            <a:off x="1228725" y="3228975"/>
            <a:ext cx="7867650" cy="5715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53600" y="3429000"/>
            <a:ext cx="829818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0" b="1" spc="-315" kern="0" dirty="0">
                <a:solidFill>
                  <a:srgbClr val="C039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≈ −90</a:t>
            </a:r>
            <a:endParaRPr lang="en-US" sz="10500" dirty="0"/>
          </a:p>
        </p:txBody>
      </p:sp>
      <p:sp>
        <p:nvSpPr>
          <p:cNvPr id="9" name="Text 6"/>
          <p:cNvSpPr/>
          <p:nvPr/>
        </p:nvSpPr>
        <p:spPr>
          <a:xfrm>
            <a:off x="9753600" y="4762500"/>
            <a:ext cx="829818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backward transfer on CIL-CORD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9753600" y="5214938"/>
            <a:ext cx="829818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Essentially everything learned earlier is lost.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9753600" y="6152183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2" name="Text 9"/>
          <p:cNvSpPr/>
          <p:nvPr/>
        </p:nvSpPr>
        <p:spPr>
          <a:xfrm>
            <a:off x="10134600" y="5980733"/>
            <a:ext cx="737768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 CORD next and FUNSD retention drops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89.1 → 3.3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 the off-diagonal cells go dark.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9753600" y="7138913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4" name="Text 11"/>
          <p:cNvSpPr/>
          <p:nvPr/>
        </p:nvSpPr>
        <p:spPr>
          <a:xfrm>
            <a:off x="10134600" y="6967463"/>
            <a:ext cx="737768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diagonal stays high — each task is learned fine; the model just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can't keep the last one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990600" y="9401175"/>
            <a:ext cx="163068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6" name="Text 13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462251" y="9563100"/>
            <a:ext cx="9113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03 / 15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7633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1047750"/>
            <a:ext cx="13682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GAP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543050"/>
            <a:ext cx="1530477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7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Every CL family treats the network uniformly — nobody localizes where forgetting lives.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990600" y="3733800"/>
            <a:ext cx="294204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Regularization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990600" y="4252913"/>
            <a:ext cx="2942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EWC, SI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027140" y="3733800"/>
            <a:ext cx="9525" cy="814388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8" name="Text 6"/>
          <p:cNvSpPr/>
          <p:nvPr/>
        </p:nvSpPr>
        <p:spPr>
          <a:xfrm>
            <a:off x="4398615" y="3733800"/>
            <a:ext cx="294213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Distillation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4398615" y="4252913"/>
            <a:ext cx="2942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LwF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435230" y="3733800"/>
            <a:ext cx="9525" cy="814388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1" name="Text 9"/>
          <p:cNvSpPr/>
          <p:nvPr/>
        </p:nvSpPr>
        <p:spPr>
          <a:xfrm>
            <a:off x="7806705" y="3733800"/>
            <a:ext cx="294204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Replay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7806705" y="4252913"/>
            <a:ext cx="2942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ER, DER++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843245" y="3733800"/>
            <a:ext cx="9525" cy="814388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4" name="Text 12"/>
          <p:cNvSpPr/>
          <p:nvPr/>
        </p:nvSpPr>
        <p:spPr>
          <a:xfrm>
            <a:off x="11214720" y="3733800"/>
            <a:ext cx="294213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Prompt-based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1214720" y="4252913"/>
            <a:ext cx="29421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L2P → CODA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4251335" y="3733800"/>
            <a:ext cx="9525" cy="814388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7" name="Text 15"/>
          <p:cNvSpPr/>
          <p:nvPr/>
        </p:nvSpPr>
        <p:spPr>
          <a:xfrm>
            <a:off x="14622810" y="3733800"/>
            <a:ext cx="294204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LoRA / PEFT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14622810" y="4252913"/>
            <a:ext cx="29420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O-LoRA → CL-LoRA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90600" y="5715000"/>
            <a:ext cx="16306800" cy="1905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6057900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75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THEIR SHARED BLIND SPOT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90600" y="6529388"/>
            <a:ext cx="162858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five regularize, replay, or adapt the network as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undifferentiated block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None asks which components forget most in a multimodal document encoder — VLM-CL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blames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fusion, but never measures it per-component.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90600" y="7567612"/>
            <a:ext cx="1793748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→ Measure first, then target.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90600" y="8096250"/>
            <a:ext cx="16285845" cy="75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Why it matters: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if forgetting has an address, the stability budget can be spent exactly there — a targeted remedy instead of a uniform tax on the whole network. That localization is what makes DocCL possible.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41489" y="9563100"/>
            <a:ext cx="9321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04 / 15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986088"/>
            <a:ext cx="323850" cy="28575"/>
          </a:xfrm>
          <a:prstGeom prst="rect">
            <a:avLst/>
          </a:prstGeom>
          <a:solidFill>
            <a:srgbClr val="6AA0FF"/>
          </a:solidFill>
          <a:ln/>
        </p:spPr>
      </p:sp>
      <p:sp>
        <p:nvSpPr>
          <p:cNvPr id="3" name="Text 1"/>
          <p:cNvSpPr/>
          <p:nvPr/>
        </p:nvSpPr>
        <p:spPr>
          <a:xfrm>
            <a:off x="1619250" y="2857500"/>
            <a:ext cx="36185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524250"/>
            <a:ext cx="16089630" cy="260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5700" b="1" spc="-57" kern="0" dirty="0">
                <a:solidFill>
                  <a:srgbClr val="F4F1E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Inside a multimodal document transformer, </a:t>
            </a:r>
            <a:pPr algn="l" indent="0" marL="0">
              <a:lnSpc>
                <a:spcPct val="118000"/>
              </a:lnSpc>
              <a:buNone/>
            </a:pPr>
            <a:r>
              <a:rPr lang="en-US" sz="5700" b="1" spc="-57" kern="0" dirty="0">
                <a:solidFill>
                  <a:srgbClr val="6AA0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where </a:t>
            </a:r>
            <a:pPr algn="l" indent="0" marL="0">
              <a:lnSpc>
                <a:spcPct val="118000"/>
              </a:lnSpc>
              <a:buNone/>
            </a:pPr>
            <a:r>
              <a:rPr lang="en-US" sz="5700" b="1" spc="-57" kern="0" dirty="0">
                <a:solidFill>
                  <a:srgbClr val="F4F1E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does catastrophic forgetting actually localize?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6486897"/>
            <a:ext cx="137350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CFC9B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 the </a:t>
            </a:r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F4F1E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fusion layers </a:t>
            </a:r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CFC9B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 the intuitive guess from VLM continual learning — or somewhere else entirely?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1143000" y="9391650"/>
            <a:ext cx="68813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8A857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single, falsifiable question — answerable by measurement.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300996" y="9391650"/>
            <a:ext cx="9202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A857C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05 / 15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7633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1047750"/>
            <a:ext cx="2839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INSTRUMENT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543050"/>
            <a:ext cx="1466850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We measure forgetting — we don't guess it.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90600" y="2990850"/>
            <a:ext cx="2286000" cy="28575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3429000"/>
            <a:ext cx="2286000" cy="28575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3867150"/>
            <a:ext cx="2286000" cy="285750"/>
          </a:xfrm>
          <a:prstGeom prst="roundRect">
            <a:avLst>
              <a:gd name="adj" fmla="val 50000"/>
            </a:avLst>
          </a:prstGeom>
          <a:solidFill>
            <a:srgbClr val="E0DCD3"/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4000500"/>
            <a:ext cx="2286000" cy="190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4591050"/>
            <a:ext cx="53295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01 </a:t>
            </a:r>
            <a:pPr algn="l" indent="0" marL="0">
              <a:buNone/>
            </a:pPr>
            <a:r>
              <a:rPr lang="en-US" sz="232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Modality masking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90600" y="5114925"/>
            <a:ext cx="4990376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Zero out the text / layout / image streams of one backbone — apples-to-apples — to isolate each modality's role.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273775" y="2857500"/>
            <a:ext cx="9525" cy="3334569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1450" y="4267200"/>
            <a:ext cx="4845100" cy="19050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3" name="Shape 11"/>
          <p:cNvSpPr/>
          <p:nvPr/>
        </p:nvSpPr>
        <p:spPr>
          <a:xfrm>
            <a:off x="7120235" y="2895600"/>
            <a:ext cx="171450" cy="17145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089255" y="3048000"/>
            <a:ext cx="171450" cy="17145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8275" y="3371850"/>
            <a:ext cx="171450" cy="17145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27295" y="3733800"/>
            <a:ext cx="171450" cy="17145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96315" y="3962400"/>
            <a:ext cx="171450" cy="17145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1450" y="4591050"/>
            <a:ext cx="53296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02 </a:t>
            </a:r>
            <a:pPr algn="l" indent="0" marL="0">
              <a:buNone/>
            </a:pPr>
            <a:r>
              <a:rPr lang="en-US" sz="232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Linear CKA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6721450" y="5114925"/>
            <a:ext cx="4990453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Per-layer representational drift between checkpoints.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Our evidence of forgetting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 1.0 means no drift.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004700" y="2857500"/>
            <a:ext cx="9525" cy="3334569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452375" y="4267200"/>
            <a:ext cx="4845025" cy="19050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452375" y="3676650"/>
            <a:ext cx="862310" cy="590550"/>
          </a:xfrm>
          <a:prstGeom prst="rect">
            <a:avLst/>
          </a:prstGeom>
          <a:solidFill>
            <a:srgbClr val="9FB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3448035" y="3238500"/>
            <a:ext cx="862385" cy="10287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43770" y="3505200"/>
            <a:ext cx="862310" cy="762000"/>
          </a:xfrm>
          <a:prstGeom prst="rect">
            <a:avLst/>
          </a:prstGeom>
          <a:solidFill>
            <a:srgbClr val="9FB8E8"/>
          </a:solidFill>
          <a:ln/>
        </p:spPr>
      </p:sp>
      <p:sp>
        <p:nvSpPr>
          <p:cNvPr id="25" name="Shape 23"/>
          <p:cNvSpPr/>
          <p:nvPr/>
        </p:nvSpPr>
        <p:spPr>
          <a:xfrm>
            <a:off x="15439430" y="2933700"/>
            <a:ext cx="862310" cy="13335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35090" y="3810000"/>
            <a:ext cx="862310" cy="457200"/>
          </a:xfrm>
          <a:prstGeom prst="rect">
            <a:avLst/>
          </a:prstGeom>
          <a:solidFill>
            <a:srgbClr val="9FB8E8"/>
          </a:solidFill>
          <a:ln/>
        </p:spPr>
      </p:sp>
      <p:sp>
        <p:nvSpPr>
          <p:cNvPr id="27" name="Text 25"/>
          <p:cNvSpPr/>
          <p:nvPr/>
        </p:nvSpPr>
        <p:spPr>
          <a:xfrm>
            <a:off x="12452375" y="4591050"/>
            <a:ext cx="53295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03 </a:t>
            </a:r>
            <a:pPr algn="l" indent="0" marL="0">
              <a:buNone/>
            </a:pPr>
            <a:r>
              <a:rPr lang="en-US" sz="232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Per-group Fisher</a:t>
            </a:r>
            <a:endParaRPr lang="en-US" sz="2325" dirty="0"/>
          </a:p>
        </p:txBody>
      </p:sp>
      <p:sp>
        <p:nvSpPr>
          <p:cNvPr id="28" name="Text 26"/>
          <p:cNvSpPr/>
          <p:nvPr/>
        </p:nvSpPr>
        <p:spPr>
          <a:xfrm>
            <a:off x="12452375" y="5114925"/>
            <a:ext cx="4990376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Parameter importance to the current task — a complementary lens,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forgetting signal itself.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90600" y="8183910"/>
            <a:ext cx="16306800" cy="1905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8488710"/>
            <a:ext cx="16678275" cy="78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b="1" dirty="0">
                <a:solidFill>
                  <a:srgbClr val="2A28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Construct-validity discipline. </a:t>
            </a:r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CKA measures forgetting; Fisher measures importance — we do not conflate them. The central finding rests on CKA drift, with Fisher as corroboration only. </a:t>
            </a:r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(Directly addresses the AAAI AC review.)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455851" y="9563100"/>
            <a:ext cx="9177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06 / 15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1918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990600"/>
            <a:ext cx="21849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FINDING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466850"/>
            <a:ext cx="15716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Forgetting is a late-layer + head phenomenon — not fusion.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990600" y="2933700"/>
            <a:ext cx="10668000" cy="6534150"/>
          </a:xfrm>
          <a:prstGeom prst="roundRect">
            <a:avLst>
              <a:gd name="adj" fmla="val 875"/>
            </a:avLst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3341" r="-3341" t="0" b="0"/>
          <a:stretch/>
        </p:blipFill>
        <p:spPr>
          <a:xfrm>
            <a:off x="1247775" y="3171825"/>
            <a:ext cx="10153650" cy="6057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39600" y="3352800"/>
            <a:ext cx="5783580" cy="743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50" b="1" spc="-117" kern="0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1.00 </a:t>
            </a:r>
            <a:pPr algn="l" indent="0" marL="0">
              <a:lnSpc>
                <a:spcPct val="95000"/>
              </a:lnSpc>
              <a:buNone/>
            </a:pPr>
            <a:r>
              <a:rPr lang="en-US" sz="5850" b="1" spc="-117" kern="0" dirty="0">
                <a:solidFill>
                  <a:srgbClr val="C9C4B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→ </a:t>
            </a:r>
            <a:pPr algn="l" indent="0" marL="0">
              <a:lnSpc>
                <a:spcPct val="95000"/>
              </a:lnSpc>
              <a:buNone/>
            </a:pPr>
            <a:r>
              <a:rPr lang="en-US" sz="5850" b="1" spc="-117" kern="0" dirty="0">
                <a:solidFill>
                  <a:srgbClr val="C039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0.16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2039600" y="4191893"/>
            <a:ext cx="578358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linear CKA, input encoders → classifier head.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12039600" y="5094387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0" name="Text 7"/>
          <p:cNvSpPr/>
          <p:nvPr/>
        </p:nvSpPr>
        <p:spPr>
          <a:xfrm>
            <a:off x="12420600" y="4932462"/>
            <a:ext cx="502310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Input encoders &amp; patch-embed barely move (CKA ≈ 1.0).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12039600" y="6100167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2" name="Text 9"/>
          <p:cNvSpPr/>
          <p:nvPr/>
        </p:nvSpPr>
        <p:spPr>
          <a:xfrm>
            <a:off x="12420600" y="5938242"/>
            <a:ext cx="502310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Drift rises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monotonically with depth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peaking at the classifier head.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12039600" y="7105948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4" name="Text 11"/>
          <p:cNvSpPr/>
          <p:nvPr/>
        </p:nvSpPr>
        <p:spPr>
          <a:xfrm>
            <a:off x="12420600" y="6944023"/>
            <a:ext cx="502310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Same gradient across LayoutLMv3, BERT, LiLT &amp; BROS — a permutation test can't separate them (p = 0.38 / 0.51), and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 fusion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990600" y="9401175"/>
            <a:ext cx="163068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6" name="Text 13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459349" y="9563100"/>
            <a:ext cx="9142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07 / 15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7633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1047750"/>
            <a:ext cx="36930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SCIENTIFIC MATURITY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543050"/>
            <a:ext cx="157162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Knowing the line between what's known and what's new.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90600" y="3848100"/>
            <a:ext cx="837676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9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ALREADY KNOWN — WE RE-CONFIRM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0600" y="4481513"/>
            <a:ext cx="7843695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Late-layer / head drift was shown on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unimodal nets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(Ramasesh et al., ICLR 2021).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90600" y="5568255"/>
            <a:ext cx="7843695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reproduce that depth gradient on a multimodal document encoder — a sanity check, honestly labelled as such.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139238" y="3848100"/>
            <a:ext cx="9525" cy="313119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9" name="Text 7"/>
          <p:cNvSpPr/>
          <p:nvPr/>
        </p:nvSpPr>
        <p:spPr>
          <a:xfrm>
            <a:off x="9682163" y="3848100"/>
            <a:ext cx="837676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9" kern="0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GENUINELY NEW — OUR CONTRIBUTION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682163" y="4652963"/>
            <a:ext cx="190500" cy="1905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10063163" y="4481513"/>
            <a:ext cx="612393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multimodal VDU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setting — not text-only; the head/late locus holds across 4 backbones (LayoutLMv3, BERT, LiLT, BROS).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682163" y="5301109"/>
            <a:ext cx="190500" cy="1905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63163" y="5129659"/>
            <a:ext cx="7451265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modality-masking instrument that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only exists when modalities exist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682163" y="6349752"/>
            <a:ext cx="190500" cy="1905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63163" y="6178302"/>
            <a:ext cx="7451265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Using the diagnosis to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drive method design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 not assuming it.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90600" y="9401175"/>
            <a:ext cx="163068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0866" y="9563100"/>
            <a:ext cx="9227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08 / 15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1918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990600"/>
            <a:ext cx="44416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FROM FINDING TO METHOD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466850"/>
            <a:ext cx="1530477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DocCL spends its stability budget exactly where forgetting lives.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990600" y="2857500"/>
            <a:ext cx="1712146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Forgetting localizes at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head + late layers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F6FE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target that, don't regularize uniformly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F6FE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→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method is a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consequence of the diagnosis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90600" y="3657600"/>
            <a:ext cx="4845025" cy="19809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3941415"/>
            <a:ext cx="4845025" cy="198165"/>
          </a:xfrm>
          <a:prstGeom prst="rect">
            <a:avLst/>
          </a:prstGeom>
          <a:solidFill>
            <a:srgbClr val="5B8AE0"/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4225305"/>
            <a:ext cx="4845025" cy="198090"/>
          </a:xfrm>
          <a:prstGeom prst="rect">
            <a:avLst/>
          </a:prstGeom>
          <a:solidFill>
            <a:srgbClr val="9FB8E8"/>
          </a:solidFill>
          <a:ln/>
        </p:spPr>
      </p:sp>
      <p:sp>
        <p:nvSpPr>
          <p:cNvPr id="9" name="Shape 7"/>
          <p:cNvSpPr/>
          <p:nvPr/>
        </p:nvSpPr>
        <p:spPr>
          <a:xfrm>
            <a:off x="990600" y="4509120"/>
            <a:ext cx="4845025" cy="198165"/>
          </a:xfrm>
          <a:prstGeom prst="rect">
            <a:avLst/>
          </a:prstGeom>
          <a:solidFill>
            <a:srgbClr val="C9D6F0"/>
          </a:solidFill>
          <a:ln/>
        </p:spPr>
      </p:sp>
      <p:sp>
        <p:nvSpPr>
          <p:cNvPr id="10" name="Shape 8"/>
          <p:cNvSpPr/>
          <p:nvPr/>
        </p:nvSpPr>
        <p:spPr>
          <a:xfrm>
            <a:off x="990600" y="4793010"/>
            <a:ext cx="4845025" cy="198090"/>
          </a:xfrm>
          <a:prstGeom prst="rect">
            <a:avLst/>
          </a:prstGeom>
          <a:solidFill>
            <a:srgbClr val="E6ECF8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5276850"/>
            <a:ext cx="53295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01 </a:t>
            </a:r>
            <a:pPr algn="l" indent="0" marL="0">
              <a:buNone/>
            </a:pPr>
            <a:r>
              <a:rPr lang="en-US" sz="232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Depth-scaled EWC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90600" y="5800725"/>
            <a:ext cx="499037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Consolidation weight ramps up toward the head — protect what drifts most.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273775" y="3657600"/>
            <a:ext cx="9525" cy="2861221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4" name="Shape 12"/>
          <p:cNvSpPr/>
          <p:nvPr/>
        </p:nvSpPr>
        <p:spPr>
          <a:xfrm>
            <a:off x="7962900" y="3829050"/>
            <a:ext cx="828675" cy="990600"/>
          </a:xfrm>
          <a:prstGeom prst="roundRect">
            <a:avLst>
              <a:gd name="adj" fmla="val 6897"/>
            </a:avLst>
          </a:prstGeom>
          <a:ln w="14288">
            <a:solidFill>
              <a:srgbClr val="C9C4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0537" y="4291013"/>
            <a:ext cx="133350" cy="381000"/>
          </a:xfrm>
          <a:prstGeom prst="rect">
            <a:avLst/>
          </a:prstGeom>
          <a:solidFill>
            <a:srgbClr val="9FB8E8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0562" y="4005262"/>
            <a:ext cx="133350" cy="666750"/>
          </a:xfrm>
          <a:prstGeom prst="rect">
            <a:avLst/>
          </a:prstGeom>
          <a:solidFill>
            <a:srgbClr val="9FB8E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10588" y="4157663"/>
            <a:ext cx="133350" cy="514350"/>
          </a:xfrm>
          <a:prstGeom prst="rect">
            <a:avLst/>
          </a:prstGeom>
          <a:solidFill>
            <a:srgbClr val="9FB8E8"/>
          </a:solidFill>
          <a:ln/>
        </p:spPr>
      </p:sp>
      <p:sp>
        <p:nvSpPr>
          <p:cNvPr id="18" name="Text 16"/>
          <p:cNvSpPr/>
          <p:nvPr/>
        </p:nvSpPr>
        <p:spPr>
          <a:xfrm>
            <a:off x="9001125" y="4145756"/>
            <a:ext cx="3619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496425" y="3829050"/>
            <a:ext cx="828675" cy="990600"/>
          </a:xfrm>
          <a:prstGeom prst="roundRect">
            <a:avLst>
              <a:gd name="adj" fmla="val 6897"/>
            </a:avLst>
          </a:prstGeom>
          <a:ln w="14288">
            <a:solidFill>
              <a:srgbClr val="1F6F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4063" y="4291013"/>
            <a:ext cx="133350" cy="3810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44088" y="4005262"/>
            <a:ext cx="133350" cy="66675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44113" y="4157663"/>
            <a:ext cx="133350" cy="51435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3" name="Text 21"/>
          <p:cNvSpPr/>
          <p:nvPr/>
        </p:nvSpPr>
        <p:spPr>
          <a:xfrm>
            <a:off x="6721450" y="5276850"/>
            <a:ext cx="53296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02 </a:t>
            </a:r>
            <a:pPr algn="l" indent="0" marL="0">
              <a:buNone/>
            </a:pPr>
            <a:r>
              <a:rPr lang="en-US" sz="232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Output distillation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6721450" y="5800725"/>
            <a:ext cx="4990453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KL on old-task logits (LwF-style) to anchor the output distribution.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004700" y="3657600"/>
            <a:ext cx="9525" cy="2861221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26" name="Shape 24"/>
          <p:cNvSpPr/>
          <p:nvPr/>
        </p:nvSpPr>
        <p:spPr>
          <a:xfrm>
            <a:off x="13898538" y="3957638"/>
            <a:ext cx="733425" cy="733425"/>
          </a:xfrm>
          <a:prstGeom prst="roundRect">
            <a:avLst>
              <a:gd name="adj" fmla="val 7792"/>
            </a:avLst>
          </a:prstGeom>
          <a:ln w="14288">
            <a:solidFill>
              <a:srgbClr val="C9C4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065225" y="4124325"/>
            <a:ext cx="152400" cy="152400"/>
          </a:xfrm>
          <a:prstGeom prst="ellipse">
            <a:avLst/>
          </a:prstGeom>
          <a:solidFill>
            <a:srgbClr val="C9C4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4312875" y="4124325"/>
            <a:ext cx="152400" cy="152400"/>
          </a:xfrm>
          <a:prstGeom prst="ellipse">
            <a:avLst/>
          </a:prstGeom>
          <a:solidFill>
            <a:srgbClr val="C9C4B8"/>
          </a:solidFill>
          <a:ln/>
        </p:spPr>
      </p:sp>
      <p:sp>
        <p:nvSpPr>
          <p:cNvPr id="29" name="Shape 27"/>
          <p:cNvSpPr/>
          <p:nvPr/>
        </p:nvSpPr>
        <p:spPr>
          <a:xfrm>
            <a:off x="14065225" y="4371975"/>
            <a:ext cx="152400" cy="152400"/>
          </a:xfrm>
          <a:prstGeom prst="ellipse">
            <a:avLst/>
          </a:prstGeom>
          <a:solidFill>
            <a:srgbClr val="C9C4B8"/>
          </a:solidFill>
          <a:ln/>
        </p:spPr>
      </p:sp>
      <p:sp>
        <p:nvSpPr>
          <p:cNvPr id="30" name="Shape 28"/>
          <p:cNvSpPr/>
          <p:nvPr/>
        </p:nvSpPr>
        <p:spPr>
          <a:xfrm>
            <a:off x="14312875" y="4371975"/>
            <a:ext cx="152400" cy="152400"/>
          </a:xfrm>
          <a:prstGeom prst="ellipse">
            <a:avLst/>
          </a:prstGeom>
          <a:solidFill>
            <a:srgbClr val="C9C4B8"/>
          </a:solidFill>
          <a:ln/>
        </p:spPr>
      </p:sp>
      <p:sp>
        <p:nvSpPr>
          <p:cNvPr id="31" name="Text 29"/>
          <p:cNvSpPr/>
          <p:nvPr/>
        </p:nvSpPr>
        <p:spPr>
          <a:xfrm>
            <a:off x="14841513" y="4145756"/>
            <a:ext cx="3619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→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5336813" y="3829050"/>
            <a:ext cx="514350" cy="990600"/>
          </a:xfrm>
          <a:prstGeom prst="roundRect">
            <a:avLst>
              <a:gd name="adj" fmla="val 11111"/>
            </a:avLst>
          </a:prstGeom>
          <a:solidFill>
            <a:srgbClr val="1F6FEB"/>
          </a:solidFill>
          <a:ln/>
        </p:spPr>
      </p:sp>
      <p:sp>
        <p:nvSpPr>
          <p:cNvPr id="33" name="Text 31"/>
          <p:cNvSpPr/>
          <p:nvPr/>
        </p:nvSpPr>
        <p:spPr>
          <a:xfrm>
            <a:off x="12452375" y="5276850"/>
            <a:ext cx="53295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03 </a:t>
            </a:r>
            <a:pPr algn="l" indent="0" marL="0">
              <a:buNone/>
            </a:pPr>
            <a:r>
              <a:rPr lang="en-US" sz="2325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Head re-exposure replay</a:t>
            </a:r>
            <a:endParaRPr lang="en-US" sz="2325" dirty="0"/>
          </a:p>
        </p:txBody>
      </p:sp>
      <p:sp>
        <p:nvSpPr>
          <p:cNvPr id="34" name="Text 32"/>
          <p:cNvSpPr/>
          <p:nvPr/>
        </p:nvSpPr>
        <p:spPr>
          <a:xfrm>
            <a:off x="12452375" y="5800725"/>
            <a:ext cx="499037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small reservoir buffer that re-exposes the head — not full-input rehearsal.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90600" y="8627790"/>
            <a:ext cx="16306800" cy="1905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6" name="Text 34"/>
          <p:cNvSpPr/>
          <p:nvPr/>
        </p:nvSpPr>
        <p:spPr>
          <a:xfrm>
            <a:off x="990600" y="8913540"/>
            <a:ext cx="1793748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A28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claim.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Targeted-by-diagnosis beats uniform — and needs only a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small head buffer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not full rehearsal.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457265" y="9563100"/>
            <a:ext cx="9163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09 / 15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7633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1047750"/>
            <a:ext cx="31224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EVALUATION SUITE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543050"/>
            <a:ext cx="157162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FCS-CL: three core + two stress scenarios, four metrics, three seeds.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90600" y="2381250"/>
            <a:ext cx="155451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50" kern="0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SETTINGS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2537147" y="2400300"/>
            <a:ext cx="39314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three core scenarios + two stress tests (scale, language-shift)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90600" y="2838450"/>
            <a:ext cx="532952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68" kern="0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3328988"/>
            <a:ext cx="532952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Class-incremental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0600" y="3752850"/>
            <a:ext cx="4990376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CORD — 60 fine-grained classes arrive in growing-head sessions; the label set keeps expanding.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273775" y="2838450"/>
            <a:ext cx="9525" cy="1928813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1" name="Text 9"/>
          <p:cNvSpPr/>
          <p:nvPr/>
        </p:nvSpPr>
        <p:spPr>
          <a:xfrm>
            <a:off x="6721450" y="2838450"/>
            <a:ext cx="53296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68" kern="0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DIL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721450" y="3328988"/>
            <a:ext cx="53296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Domain-incremental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721450" y="3752850"/>
            <a:ext cx="4990453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FUNSD → SROIE → CORD under one unified 4-class schema; the domain shifts, the labels stay fixed.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2004700" y="2838450"/>
            <a:ext cx="9525" cy="1928813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5" name="Text 13"/>
          <p:cNvSpPr/>
          <p:nvPr/>
        </p:nvSpPr>
        <p:spPr>
          <a:xfrm>
            <a:off x="12452375" y="2838450"/>
            <a:ext cx="532952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68" kern="0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Mixed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452375" y="3328988"/>
            <a:ext cx="532952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Class + domain shift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452375" y="3752850"/>
            <a:ext cx="4990376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Interleaves class growth and domain shift in one sequence — the hardest, most realistic case.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90600" y="5295900"/>
            <a:ext cx="13706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50" kern="0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METRICS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2370013" y="5314950"/>
            <a:ext cx="5198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four scores, each averaged over three seeds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90600" y="5753100"/>
            <a:ext cx="38792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AA </a:t>
            </a:r>
            <a:pPr algn="l" indent="0" marL="0">
              <a:buNone/>
            </a:pPr>
            <a:r>
              <a:rPr lang="en-US" sz="2100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↑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90600" y="6200775"/>
            <a:ext cx="387929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Average accuracy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90600" y="6596063"/>
            <a:ext cx="363243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 entity-F1 across all tasks seen so far.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879181" y="5753100"/>
            <a:ext cx="9525" cy="1482923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24" name="Text 22"/>
          <p:cNvSpPr/>
          <p:nvPr/>
        </p:nvSpPr>
        <p:spPr>
          <a:xfrm>
            <a:off x="5250656" y="5753100"/>
            <a:ext cx="38792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BWT </a:t>
            </a:r>
            <a:pPr algn="l" indent="0" marL="0">
              <a:buNone/>
            </a:pPr>
            <a:r>
              <a:rPr lang="en-US" sz="2100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↑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250656" y="6200775"/>
            <a:ext cx="387929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Backward transfer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5250656" y="6596063"/>
            <a:ext cx="363243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Effect of new tasks on old ones; ≈ 0 means little forgetting.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39238" y="5753100"/>
            <a:ext cx="9525" cy="1482923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28" name="Text 26"/>
          <p:cNvSpPr/>
          <p:nvPr/>
        </p:nvSpPr>
        <p:spPr>
          <a:xfrm>
            <a:off x="9510713" y="5753100"/>
            <a:ext cx="38792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AF </a:t>
            </a:r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↓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10713" y="6200775"/>
            <a:ext cx="387929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Average forgetting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9510713" y="6596063"/>
            <a:ext cx="363243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 drop from each task's peak to its final score.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3399294" y="5753100"/>
            <a:ext cx="9525" cy="1482923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32" name="Text 30"/>
          <p:cNvSpPr/>
          <p:nvPr/>
        </p:nvSpPr>
        <p:spPr>
          <a:xfrm>
            <a:off x="13770769" y="5753100"/>
            <a:ext cx="38792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FWT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3770769" y="6200775"/>
            <a:ext cx="387929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Forward transfer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3770769" y="6596063"/>
            <a:ext cx="363243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How much earlier tasks help a new one before training on it.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468948" y="9563100"/>
            <a:ext cx="9046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 / 15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04298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914400"/>
            <a:ext cx="50948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MAIN RESULTS · ALL MEASURED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371600"/>
            <a:ext cx="1471612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DocCL closes most of the DIL gap — replay and 2025 C-Flat++ are the strongest remedies.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90600" y="3124200"/>
            <a:ext cx="9620250" cy="1905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724150"/>
            <a:ext cx="343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METHOD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46327" y="2724150"/>
            <a:ext cx="1473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CIL-CORD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48921" y="2724150"/>
            <a:ext cx="14658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43404" y="2724150"/>
            <a:ext cx="10408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MIXED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289033" y="2724150"/>
            <a:ext cx="1398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STATUS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90600" y="3700463"/>
            <a:ext cx="962025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3276600"/>
            <a:ext cx="3431513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Naïve (lower bound)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546327" y="3276600"/>
            <a:ext cx="1473994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19.0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248921" y="3276600"/>
            <a:ext cx="1465883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41.3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943404" y="3276600"/>
            <a:ext cx="1040829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33.9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89033" y="3276600"/>
            <a:ext cx="139801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4262438"/>
            <a:ext cx="962025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3843338"/>
            <a:ext cx="343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EWC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546327" y="3843338"/>
            <a:ext cx="1473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C0392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248921" y="3843338"/>
            <a:ext cx="14658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41.2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943404" y="3843338"/>
            <a:ext cx="10408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22.0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289033" y="3843338"/>
            <a:ext cx="1398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90600" y="4824413"/>
            <a:ext cx="962025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4405313"/>
            <a:ext cx="343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LwF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4546327" y="4405313"/>
            <a:ext cx="1473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18.8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248921" y="4405313"/>
            <a:ext cx="14658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43.7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943404" y="4405313"/>
            <a:ext cx="10408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35.2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289033" y="4405313"/>
            <a:ext cx="1398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0600" y="5386388"/>
            <a:ext cx="962025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4967287"/>
            <a:ext cx="343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ER (replay)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4546327" y="4967287"/>
            <a:ext cx="1473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16.0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248921" y="4967287"/>
            <a:ext cx="14658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87.9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7943404" y="4967287"/>
            <a:ext cx="10408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60.3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289033" y="4967287"/>
            <a:ext cx="1398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90600" y="5948363"/>
            <a:ext cx="962025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36" name="Text 34"/>
          <p:cNvSpPr/>
          <p:nvPr/>
        </p:nvSpPr>
        <p:spPr>
          <a:xfrm>
            <a:off x="990600" y="5529263"/>
            <a:ext cx="343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DER++ (replay)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4546327" y="5529263"/>
            <a:ext cx="1473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18.2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6248921" y="5529263"/>
            <a:ext cx="14658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88.0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7943404" y="5529263"/>
            <a:ext cx="10408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60.8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289033" y="5529263"/>
            <a:ext cx="1398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90600" y="6510338"/>
            <a:ext cx="962025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42" name="Text 40"/>
          <p:cNvSpPr/>
          <p:nvPr/>
        </p:nvSpPr>
        <p:spPr>
          <a:xfrm>
            <a:off x="990600" y="6091238"/>
            <a:ext cx="343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L2P / DualPrompt / CODA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4546327" y="6091238"/>
            <a:ext cx="1473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C0392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0–2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6248921" y="6091238"/>
            <a:ext cx="14658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~30–33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7943404" y="6091238"/>
            <a:ext cx="10408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~12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9289033" y="6091238"/>
            <a:ext cx="1398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90600" y="7072313"/>
            <a:ext cx="962025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48" name="Text 46"/>
          <p:cNvSpPr/>
          <p:nvPr/>
        </p:nvSpPr>
        <p:spPr>
          <a:xfrm>
            <a:off x="990600" y="6653212"/>
            <a:ext cx="343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O-LoRA / CL-LoRA (2025)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4546327" y="6653212"/>
            <a:ext cx="1473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C9C4B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4.7 / 8.9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6248921" y="6653212"/>
            <a:ext cx="14658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40.8 / 41.1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7943404" y="6653212"/>
            <a:ext cx="10408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C9C4B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13.4 / 31.4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9289033" y="6653212"/>
            <a:ext cx="1398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6FE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90600" y="7081838"/>
            <a:ext cx="9620250" cy="623888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54" name="Shape 52"/>
          <p:cNvSpPr/>
          <p:nvPr/>
        </p:nvSpPr>
        <p:spPr>
          <a:xfrm>
            <a:off x="990600" y="7696200"/>
            <a:ext cx="962025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55" name="Text 53"/>
          <p:cNvSpPr/>
          <p:nvPr/>
        </p:nvSpPr>
        <p:spPr>
          <a:xfrm>
            <a:off x="1123950" y="7234238"/>
            <a:ext cx="329816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DocCL (ours)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4546327" y="7234238"/>
            <a:ext cx="147399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16.1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6248921" y="7234238"/>
            <a:ext cx="146588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F6FE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84.7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7943404" y="7234238"/>
            <a:ext cx="104082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57.6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9289033" y="7234238"/>
            <a:ext cx="139801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990600" y="7839075"/>
            <a:ext cx="34315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Joint (oracle)</a:t>
            </a:r>
            <a:endParaRPr lang="en-US" sz="1950" dirty="0"/>
          </a:p>
        </p:txBody>
      </p:sp>
      <p:sp>
        <p:nvSpPr>
          <p:cNvPr id="61" name="Text 59"/>
          <p:cNvSpPr/>
          <p:nvPr/>
        </p:nvSpPr>
        <p:spPr>
          <a:xfrm>
            <a:off x="4546327" y="7839075"/>
            <a:ext cx="14739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33.3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6248921" y="7839075"/>
            <a:ext cx="146588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88.7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7943404" y="7839075"/>
            <a:ext cx="104082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67.5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9289033" y="7839075"/>
            <a:ext cx="139801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measured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144250" y="2724150"/>
            <a:ext cx="9525" cy="3789983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66" name="Text 64"/>
          <p:cNvSpPr/>
          <p:nvPr/>
        </p:nvSpPr>
        <p:spPr>
          <a:xfrm>
            <a:off x="11687175" y="2724150"/>
            <a:ext cx="617124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56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READ THIS HONESTLY</a:t>
            </a:r>
            <a:endParaRPr lang="en-US" sz="1875" dirty="0"/>
          </a:p>
        </p:txBody>
      </p:sp>
      <p:sp>
        <p:nvSpPr>
          <p:cNvPr id="67" name="Text 65"/>
          <p:cNvSpPr/>
          <p:nvPr/>
        </p:nvSpPr>
        <p:spPr>
          <a:xfrm>
            <a:off x="11687175" y="3309938"/>
            <a:ext cx="5778532" cy="741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closes most of the DIL gap: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84.7 vs oracle 88.7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(~4 pts).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1687175" y="4260800"/>
            <a:ext cx="5778532" cy="741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Replay (ER 87.9 / DER++ 88.0) and 2025 C-Flat++ (88.4, best non-oracle) match the oracle and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leads DocCL by ~3 pts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950" dirty="0"/>
          </a:p>
        </p:txBody>
      </p:sp>
      <p:sp>
        <p:nvSpPr>
          <p:cNvPr id="69" name="Text 67"/>
          <p:cNvSpPr/>
          <p:nvPr/>
        </p:nvSpPr>
        <p:spPr>
          <a:xfrm>
            <a:off x="11687175" y="5211663"/>
            <a:ext cx="6171248" cy="389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Prompt methods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C0392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nearly fail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 dense per-token IE. Two stress scenarios — WildReceipt (scale) and XFUND (language shift) — confirm the head-locus story.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11687175" y="5810920"/>
            <a:ext cx="5778532" cy="741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DocCL's edge is qualitative: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tiny head buffer, no full rehearsal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950" dirty="0"/>
          </a:p>
        </p:txBody>
      </p:sp>
      <p:sp>
        <p:nvSpPr>
          <p:cNvPr id="71" name="Text 69"/>
          <p:cNvSpPr/>
          <p:nvPr/>
        </p:nvSpPr>
        <p:spPr>
          <a:xfrm>
            <a:off x="16493356" y="9620250"/>
            <a:ext cx="880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11 / 15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1918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990600"/>
            <a:ext cx="35882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RESULTS, VISUALIZED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466850"/>
            <a:ext cx="1471612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On forgetting, DocCL reaches near-zero on DIL — matching replay.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990600" y="3390900"/>
            <a:ext cx="35978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AVG. ACCURACY (entity-F1)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47146" y="34290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FA0F0"/>
          </a:solidFill>
          <a:ln/>
        </p:spPr>
      </p:sp>
      <p:sp>
        <p:nvSpPr>
          <p:cNvPr id="7" name="Text 5"/>
          <p:cNvSpPr/>
          <p:nvPr/>
        </p:nvSpPr>
        <p:spPr>
          <a:xfrm>
            <a:off x="4851946" y="3395663"/>
            <a:ext cx="4070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ER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5468541" y="34290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3B3BBE"/>
          </a:solidFill>
          <a:ln/>
        </p:spPr>
      </p:sp>
      <p:sp>
        <p:nvSpPr>
          <p:cNvPr id="9" name="Text 7"/>
          <p:cNvSpPr/>
          <p:nvPr/>
        </p:nvSpPr>
        <p:spPr>
          <a:xfrm>
            <a:off x="5773341" y="3395663"/>
            <a:ext cx="8571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DER++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839992" y="34290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E0245E"/>
          </a:solidFill>
          <a:ln/>
        </p:spPr>
      </p:sp>
      <p:sp>
        <p:nvSpPr>
          <p:cNvPr id="11" name="Text 9"/>
          <p:cNvSpPr/>
          <p:nvPr/>
        </p:nvSpPr>
        <p:spPr>
          <a:xfrm>
            <a:off x="7144792" y="3395663"/>
            <a:ext cx="8434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0245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8197825" y="342900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3DA64A"/>
          </a:solidFill>
          <a:ln/>
        </p:spPr>
      </p:sp>
      <p:sp>
        <p:nvSpPr>
          <p:cNvPr id="13" name="Text 11"/>
          <p:cNvSpPr/>
          <p:nvPr/>
        </p:nvSpPr>
        <p:spPr>
          <a:xfrm>
            <a:off x="8502625" y="3395663"/>
            <a:ext cx="15139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Joint (oracle)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90600" y="3981450"/>
            <a:ext cx="9753600" cy="520065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-915" r="-915" t="0" b="0"/>
          <a:stretch/>
        </p:blipFill>
        <p:spPr>
          <a:xfrm>
            <a:off x="1247775" y="4219575"/>
            <a:ext cx="9239250" cy="47244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82400" y="3505200"/>
            <a:ext cx="6286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FORGETTING ≠ ACCURACY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582400" y="3886200"/>
            <a:ext cx="62865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150" kern="0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−4.6 </a:t>
            </a:r>
            <a:pPr algn="l" indent="0" marL="0">
              <a:lnSpc>
                <a:spcPct val="100000"/>
              </a:lnSpc>
              <a:buNone/>
            </a:pPr>
            <a:r>
              <a:rPr lang="en-US" sz="3150" b="1" spc="-150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BWT</a:t>
            </a:r>
            <a:endParaRPr lang="en-US" sz="7500" dirty="0"/>
          </a:p>
        </p:txBody>
      </p:sp>
      <p:sp>
        <p:nvSpPr>
          <p:cNvPr id="18" name="Text 15"/>
          <p:cNvSpPr/>
          <p:nvPr/>
        </p:nvSpPr>
        <p:spPr>
          <a:xfrm>
            <a:off x="11582400" y="4991100"/>
            <a:ext cx="58864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on DIL — near replay's −2.8 / −3.4 (C-Flat++ −1.8, closest to zero), while staying accurate.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11582400" y="6292155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0" name="Text 17"/>
          <p:cNvSpPr/>
          <p:nvPr/>
        </p:nvSpPr>
        <p:spPr>
          <a:xfrm>
            <a:off x="11963400" y="6130230"/>
            <a:ext cx="549402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EWC / prompt methods also show low BWT — but only because they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barely learn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025" dirty="0"/>
          </a:p>
        </p:txBody>
      </p:sp>
      <p:sp>
        <p:nvSpPr>
          <p:cNvPr id="21" name="Shape 18"/>
          <p:cNvSpPr/>
          <p:nvPr/>
        </p:nvSpPr>
        <p:spPr>
          <a:xfrm>
            <a:off x="11582400" y="7278886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2" name="Text 19"/>
          <p:cNvSpPr/>
          <p:nvPr/>
        </p:nvSpPr>
        <p:spPr>
          <a:xfrm>
            <a:off x="11963400" y="7116961"/>
            <a:ext cx="549402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Only replay and DocCL drive forgetting to ~0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while staying accurate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025" dirty="0"/>
          </a:p>
        </p:txBody>
      </p:sp>
      <p:sp>
        <p:nvSpPr>
          <p:cNvPr id="23" name="Shape 20"/>
          <p:cNvSpPr/>
          <p:nvPr/>
        </p:nvSpPr>
        <p:spPr>
          <a:xfrm>
            <a:off x="990600" y="9401175"/>
            <a:ext cx="163068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24" name="Text 21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482417" y="9563100"/>
            <a:ext cx="8911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12 / 15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04298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914400"/>
            <a:ext cx="43724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WHERE I AM · WHAT'S LEFT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371600"/>
            <a:ext cx="157162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Experiments complete — remaining work is the write-up.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990600" y="2857500"/>
            <a:ext cx="837676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9" kern="0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MEASURED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0600" y="3452813"/>
            <a:ext cx="837676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Diagnosis: CKA gradient + Fisher-weighted displacement on 4 backbones (LayoutLMv3, BERT, LiLT, BROS).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90600" y="4022378"/>
            <a:ext cx="784369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baselines × 5 scenarios × 3 seeds: Naïve/Joint/EWC/LwF/ER/DER++, C-Flat++, O-LoRA/CL-LoRA.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90600" y="4951958"/>
            <a:ext cx="837676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Prompt baselines (L2P, DualPrompt, CODA).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90600" y="5521523"/>
            <a:ext cx="837676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Component-targeting ablation: head-only / late-only / uniform / full DocCL.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90600" y="6091089"/>
            <a:ext cx="837676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on all 5 scenarios + extended scenarios (XFUND cross-lingual, WildReceipt scale).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39238" y="2857500"/>
            <a:ext cx="9525" cy="3593604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2" name="Text 10"/>
          <p:cNvSpPr/>
          <p:nvPr/>
        </p:nvSpPr>
        <p:spPr>
          <a:xfrm>
            <a:off x="9682163" y="2857500"/>
            <a:ext cx="837676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9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REMAINING — WRITE-UP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682163" y="3452813"/>
            <a:ext cx="837676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Thesis prose: results &amp; discussion chapters.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682163" y="4022378"/>
            <a:ext cx="837676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Final figure/table polish + reproducibility appendix.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682163" y="4591943"/>
            <a:ext cx="784369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Defense slides + dry run.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682163" y="5521523"/>
            <a:ext cx="837676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(Optional) larger LiLT/BROS continual grids.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90600" y="8664922"/>
            <a:ext cx="16306800" cy="1905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8931622"/>
            <a:ext cx="17937480" cy="40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2A28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Plan.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experiments measured on the L40 machine (Docker, W&amp;B offline); write-up on track for the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December 2026 defense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6486733" y="9563100"/>
            <a:ext cx="8868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14 / 15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04298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914400"/>
            <a:ext cx="37029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CRITIQUE, ADDRESSED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371600"/>
            <a:ext cx="157162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Reviewer critiques and our resolutions.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990600" y="2762250"/>
            <a:ext cx="78486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3019425"/>
            <a:ext cx="8633460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Critique.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“text-only” baseline was a null-input bug.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90600" y="3504233"/>
            <a:ext cx="8084058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Fix.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Implemented a real BERT text-only baseline and re-ran. Construct validity restored.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448800" y="2762250"/>
            <a:ext cx="78486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9" name="Text 7"/>
          <p:cNvSpPr/>
          <p:nvPr/>
        </p:nvSpPr>
        <p:spPr>
          <a:xfrm>
            <a:off x="9448800" y="3019425"/>
            <a:ext cx="8633460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Critique.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Fisher (importance) ≠ forgetting.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48800" y="3504233"/>
            <a:ext cx="8084058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Fix.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finding now rests on CKA representational drift; Fisher demoted to corroboration.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90600" y="4564335"/>
            <a:ext cx="78486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4821510"/>
            <a:ext cx="8633460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Critique.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Over-claimed multimodal fusion decomposition.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0600" y="5306318"/>
            <a:ext cx="8084058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Fix.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Reframed Contribution 1 as a depth-wise + classifier-head characterization — what the data support.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448800" y="4564335"/>
            <a:ext cx="78486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15" name="Text 13"/>
          <p:cNvSpPr/>
          <p:nvPr/>
        </p:nvSpPr>
        <p:spPr>
          <a:xfrm>
            <a:off x="9448800" y="4821510"/>
            <a:ext cx="8633460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Critique.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Underpowered cross-condition significance test.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448800" y="5306318"/>
            <a:ext cx="8084058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Fix.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Dropped the |BWT| test as a method gate; rely on the per-component drift profile + more seeds.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0600" y="9058275"/>
            <a:ext cx="158838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6E6A6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Confronting an unsparing review and fixing the instrument — the posture an advisor wants to see.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6465972" y="9563100"/>
            <a:ext cx="9076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15 / 15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19188"/>
            <a:ext cx="323850" cy="28575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990600"/>
            <a:ext cx="35882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ABLATION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466850"/>
            <a:ext cx="1471612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dirty="0">
                <a:solidFill>
                  <a:srgbClr val="1B1A1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Targeting the diagnosed head/late locus beats treating the network uniformly.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990600" y="3390900"/>
            <a:ext cx="35978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AVG. ACCURACY ON DIL (entity-F1)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0600" y="3981450"/>
            <a:ext cx="9753600" cy="520065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-915" r="-915" t="0" b="0"/>
          <a:stretch/>
        </p:blipFill>
        <p:spPr>
          <a:xfrm>
            <a:off x="1247775" y="4219575"/>
            <a:ext cx="9239250" cy="47244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82400" y="3505200"/>
            <a:ext cx="6286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WHERE &gt; HOW MUCH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582400" y="3886200"/>
            <a:ext cx="62865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150" kern="0" dirty="0">
                <a:solidFill>
                  <a:srgbClr val="1F6FE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42.6 </a:t>
            </a:r>
            <a:pPr algn="l" indent="0" marL="0">
              <a:lnSpc>
                <a:spcPct val="100000"/>
              </a:lnSpc>
              <a:buNone/>
            </a:pPr>
            <a:r>
              <a:rPr lang="en-US" sz="3150" b="1" spc="-150" kern="0" dirty="0">
                <a:solidFill>
                  <a:srgbClr val="6E6A63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uniform AA (≈ half)</a:t>
            </a:r>
            <a:endParaRPr lang="en-US" sz="7500" dirty="0"/>
          </a:p>
        </p:txBody>
      </p:sp>
      <p:sp>
        <p:nvSpPr>
          <p:cNvPr id="18" name="Text 15"/>
          <p:cNvSpPr/>
          <p:nvPr/>
        </p:nvSpPr>
        <p:spPr>
          <a:xfrm>
            <a:off x="11582400" y="4991100"/>
            <a:ext cx="58864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282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Uniform applies an equal — in fact larger — penalty to every depth, yet collapses to ≈ half (42.6). Head-only (86.1) and late-only (86.2) each match full DocCL (84.7).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11582400" y="6292155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0" name="Text 17"/>
          <p:cNvSpPr/>
          <p:nvPr/>
        </p:nvSpPr>
        <p:spPr>
          <a:xfrm>
            <a:off x="11963400" y="6130230"/>
            <a:ext cx="549402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Where the stability budget goes dominates how much — more budget, spread evenly, is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worse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025" dirty="0"/>
          </a:p>
        </p:txBody>
      </p:sp>
      <p:sp>
        <p:nvSpPr>
          <p:cNvPr id="21" name="Shape 18"/>
          <p:cNvSpPr/>
          <p:nvPr/>
        </p:nvSpPr>
        <p:spPr>
          <a:xfrm>
            <a:off x="11582400" y="7278886"/>
            <a:ext cx="190500" cy="19050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2" name="Text 19"/>
          <p:cNvSpPr/>
          <p:nvPr/>
        </p:nvSpPr>
        <p:spPr>
          <a:xfrm>
            <a:off x="11963400" y="7116961"/>
            <a:ext cx="549402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remedy is a consequence of the diagnosis — not a uniform tax on the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whole network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1B1A1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025" dirty="0"/>
          </a:p>
        </p:txBody>
      </p:sp>
      <p:sp>
        <p:nvSpPr>
          <p:cNvPr id="23" name="Shape 20"/>
          <p:cNvSpPr/>
          <p:nvPr/>
        </p:nvSpPr>
        <p:spPr>
          <a:xfrm>
            <a:off x="990600" y="9401175"/>
            <a:ext cx="16306800" cy="9525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24" name="Text 21"/>
          <p:cNvSpPr/>
          <p:nvPr/>
        </p:nvSpPr>
        <p:spPr>
          <a:xfrm>
            <a:off x="990600" y="9575006"/>
            <a:ext cx="53301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399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DocCL — Diagnosis-Guided Continual Learning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482417" y="9563100"/>
            <a:ext cx="8911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A8A399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13 / 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2026-06-18T11:33:58Z</dcterms:created>
  <dcterms:modified xsi:type="dcterms:W3CDTF">2026-06-18T11:33:58Z</dcterms:modified>
</cp:coreProperties>
</file>